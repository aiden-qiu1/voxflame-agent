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2" r:id="rId4"/>
    <p:sldId id="261" r:id="rId5"/>
    <p:sldId id="268" r:id="rId6"/>
    <p:sldId id="265" r:id="rId7"/>
    <p:sldId id="269" r:id="rId8"/>
    <p:sldId id="270" r:id="rId9"/>
    <p:sldId id="260" r:id="rId10"/>
    <p:sldId id="259" r:id="rId11"/>
    <p:sldId id="272" r:id="rId12"/>
    <p:sldId id="257" r:id="rId13"/>
    <p:sldId id="263" r:id="rId14"/>
    <p:sldId id="264" r:id="rId15"/>
    <p:sldId id="266" r:id="rId16"/>
    <p:sldId id="267" r:id="rId17"/>
    <p:sldId id="271" r:id="rId1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946" y="2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5B669-6CC0-4D58-942E-89993CC76E01}" type="datetimeFigureOut">
              <a:rPr lang="zh-CN" altLang="en-US" smtClean="0"/>
              <a:pPr/>
              <a:t>2026/8/22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27197-AE7F-4FB2-8737-D6A9A164F43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5B669-6CC0-4D58-942E-89993CC76E01}" type="datetimeFigureOut">
              <a:rPr lang="zh-CN" altLang="en-US" smtClean="0"/>
              <a:pPr/>
              <a:t>2026/8/22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27197-AE7F-4FB2-8737-D6A9A164F43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5B669-6CC0-4D58-942E-89993CC76E01}" type="datetimeFigureOut">
              <a:rPr lang="zh-CN" altLang="en-US" smtClean="0"/>
              <a:pPr/>
              <a:t>2026/8/22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27197-AE7F-4FB2-8737-D6A9A164F43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5B669-6CC0-4D58-942E-89993CC76E01}" type="datetimeFigureOut">
              <a:rPr lang="zh-CN" altLang="en-US" smtClean="0"/>
              <a:pPr/>
              <a:t>2026/8/22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27197-AE7F-4FB2-8737-D6A9A164F43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5B669-6CC0-4D58-942E-89993CC76E01}" type="datetimeFigureOut">
              <a:rPr lang="zh-CN" altLang="en-US" smtClean="0"/>
              <a:pPr/>
              <a:t>2026/8/22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27197-AE7F-4FB2-8737-D6A9A164F43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5B669-6CC0-4D58-942E-89993CC76E01}" type="datetimeFigureOut">
              <a:rPr lang="zh-CN" altLang="en-US" smtClean="0"/>
              <a:pPr/>
              <a:t>2026/8/22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27197-AE7F-4FB2-8737-D6A9A164F43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5B669-6CC0-4D58-942E-89993CC76E01}" type="datetimeFigureOut">
              <a:rPr lang="zh-CN" altLang="en-US" smtClean="0"/>
              <a:pPr/>
              <a:t>2026/8/22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27197-AE7F-4FB2-8737-D6A9A164F43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5B669-6CC0-4D58-942E-89993CC76E01}" type="datetimeFigureOut">
              <a:rPr lang="zh-CN" altLang="en-US" smtClean="0"/>
              <a:pPr/>
              <a:t>2026/8/22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27197-AE7F-4FB2-8737-D6A9A164F43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5B669-6CC0-4D58-942E-89993CC76E01}" type="datetimeFigureOut">
              <a:rPr lang="zh-CN" altLang="en-US" smtClean="0"/>
              <a:pPr/>
              <a:t>2026/8/22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27197-AE7F-4FB2-8737-D6A9A164F43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5B669-6CC0-4D58-942E-89993CC76E01}" type="datetimeFigureOut">
              <a:rPr lang="zh-CN" altLang="en-US" smtClean="0"/>
              <a:pPr/>
              <a:t>2026/8/22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27197-AE7F-4FB2-8737-D6A9A164F43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5B669-6CC0-4D58-942E-89993CC76E01}" type="datetimeFigureOut">
              <a:rPr lang="zh-CN" altLang="en-US" smtClean="0"/>
              <a:pPr/>
              <a:t>2026/8/22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27197-AE7F-4FB2-8737-D6A9A164F43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A5B669-6CC0-4D58-942E-89993CC76E01}" type="datetimeFigureOut">
              <a:rPr lang="zh-CN" altLang="en-US" smtClean="0"/>
              <a:pPr/>
              <a:t>2026/8/22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927197-AE7F-4FB2-8737-D6A9A164F43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 smtClean="0"/>
              <a:t>燃言多模态</a:t>
            </a:r>
            <a:r>
              <a:rPr lang="en-US" altLang="zh-CN" sz="3200" dirty="0" smtClean="0"/>
              <a:t>AI</a:t>
            </a:r>
            <a:r>
              <a:rPr lang="zh-CN" altLang="en-US" sz="3200" dirty="0" smtClean="0"/>
              <a:t>无障碍沟通机</a:t>
            </a:r>
            <a:r>
              <a:rPr lang="en-US" altLang="zh-CN" sz="3200" dirty="0" smtClean="0"/>
              <a:t/>
            </a:r>
            <a:br>
              <a:rPr lang="en-US" altLang="zh-CN" sz="3200" dirty="0" smtClean="0"/>
            </a:br>
            <a:r>
              <a:rPr lang="en-US" altLang="zh-CN" sz="3200" dirty="0" smtClean="0"/>
              <a:t>                         ------</a:t>
            </a:r>
            <a:r>
              <a:rPr lang="zh-CN" altLang="en-US" sz="3200" dirty="0" smtClean="0"/>
              <a:t>产品方案</a:t>
            </a:r>
            <a:endParaRPr lang="zh-CN" altLang="en-US" sz="32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57356" y="4286256"/>
            <a:ext cx="6400800" cy="1071570"/>
          </a:xfrm>
        </p:spPr>
        <p:txBody>
          <a:bodyPr>
            <a:normAutofit/>
          </a:bodyPr>
          <a:lstStyle/>
          <a:p>
            <a:r>
              <a:rPr lang="zh-CN" altLang="en-US" sz="2400" dirty="0" smtClean="0">
                <a:solidFill>
                  <a:schemeClr val="tx1"/>
                </a:solidFill>
              </a:rPr>
              <a:t>                                          叶大海</a:t>
            </a:r>
            <a:endParaRPr lang="en-US" altLang="zh-CN" sz="2400" dirty="0" smtClean="0">
              <a:solidFill>
                <a:schemeClr val="tx1"/>
              </a:solidFill>
            </a:endParaRPr>
          </a:p>
          <a:p>
            <a:r>
              <a:rPr lang="en-US" altLang="zh-CN" sz="2400" dirty="0" smtClean="0">
                <a:solidFill>
                  <a:schemeClr val="tx1"/>
                </a:solidFill>
              </a:rPr>
              <a:t>                                      2026-08-19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357298"/>
            <a:ext cx="3792474" cy="493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矩形 4"/>
          <p:cNvSpPr/>
          <p:nvPr/>
        </p:nvSpPr>
        <p:spPr>
          <a:xfrm>
            <a:off x="4500562" y="1285860"/>
            <a:ext cx="435771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外观形状：纽扣型（外形可定制）</a:t>
            </a:r>
            <a:endParaRPr lang="en-US" altLang="zh-CN" dirty="0" smtClean="0"/>
          </a:p>
          <a:p>
            <a:r>
              <a:rPr lang="zh-CN" altLang="en-US" dirty="0" smtClean="0"/>
              <a:t>应用场景：衣服领袖可夹</a:t>
            </a:r>
            <a:endParaRPr lang="en-US" altLang="zh-CN" dirty="0" smtClean="0"/>
          </a:p>
          <a:p>
            <a:r>
              <a:rPr lang="zh-CN" altLang="en-US" dirty="0" smtClean="0"/>
              <a:t>功能应用：麦克风收集不同地方的人的说话（包括口齿不清）声音，物理降噪处理后，通过</a:t>
            </a:r>
            <a:r>
              <a:rPr lang="en-US" altLang="zh-CN" dirty="0" smtClean="0"/>
              <a:t>4G</a:t>
            </a:r>
            <a:r>
              <a:rPr lang="zh-CN" altLang="en-US" dirty="0" smtClean="0"/>
              <a:t>物联网，上传到后台服务器，经过服务器处理分析后转为可识别的普通话语音，通过</a:t>
            </a:r>
            <a:r>
              <a:rPr lang="en-US" altLang="zh-CN" dirty="0" smtClean="0"/>
              <a:t>4G</a:t>
            </a:r>
            <a:r>
              <a:rPr lang="zh-CN" altLang="en-US" dirty="0" smtClean="0"/>
              <a:t>模块回传后，经过功放，喇叭外放输出；</a:t>
            </a:r>
            <a:endParaRPr lang="en-US" altLang="zh-CN" dirty="0" smtClean="0"/>
          </a:p>
          <a:p>
            <a:r>
              <a:rPr lang="zh-CN" altLang="en-US" dirty="0" smtClean="0"/>
              <a:t>即 </a:t>
            </a:r>
            <a:r>
              <a:rPr lang="en-US" altLang="zh-CN" dirty="0" smtClean="0"/>
              <a:t>ASR/</a:t>
            </a:r>
            <a:r>
              <a:rPr lang="zh-CN" altLang="en-US" dirty="0" smtClean="0"/>
              <a:t>特定语音及方言转普通话</a:t>
            </a:r>
            <a:r>
              <a:rPr lang="en-US" altLang="zh-CN" dirty="0" smtClean="0"/>
              <a:t>/TTS </a:t>
            </a:r>
            <a:r>
              <a:rPr lang="zh-CN" altLang="en-US" dirty="0" smtClean="0"/>
              <a:t>都在后台完成，本终端只做采集</a:t>
            </a:r>
            <a:r>
              <a:rPr lang="en-US" altLang="zh-CN" dirty="0" smtClean="0"/>
              <a:t>+</a:t>
            </a:r>
            <a:r>
              <a:rPr lang="zh-CN" altLang="en-US" dirty="0" smtClean="0"/>
              <a:t>降噪</a:t>
            </a:r>
            <a:r>
              <a:rPr lang="en-US" altLang="zh-CN" dirty="0" smtClean="0"/>
              <a:t>+4G</a:t>
            </a:r>
            <a:r>
              <a:rPr lang="zh-CN" altLang="en-US" dirty="0" smtClean="0"/>
              <a:t>上传</a:t>
            </a:r>
            <a:r>
              <a:rPr lang="en-US" altLang="zh-CN" dirty="0" smtClean="0"/>
              <a:t>+</a:t>
            </a:r>
            <a:r>
              <a:rPr lang="zh-CN" altLang="en-US" dirty="0" smtClean="0"/>
              <a:t>收音频</a:t>
            </a:r>
            <a:r>
              <a:rPr lang="en-US" altLang="zh-CN" dirty="0" smtClean="0"/>
              <a:t>+</a:t>
            </a:r>
            <a:r>
              <a:rPr lang="zh-CN" altLang="en-US" dirty="0" smtClean="0"/>
              <a:t>功放播放）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备注：独立终端，不带显示屏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5000636"/>
            <a:ext cx="40005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成本分析：</a:t>
            </a:r>
            <a:r>
              <a:rPr lang="en-US" altLang="zh-CN" dirty="0" smtClean="0"/>
              <a:t>115</a:t>
            </a:r>
            <a:r>
              <a:rPr lang="zh-CN" altLang="en-US" dirty="0" smtClean="0"/>
              <a:t>左右带</a:t>
            </a:r>
            <a:r>
              <a:rPr lang="en-US" altLang="zh-CN" dirty="0" smtClean="0"/>
              <a:t>4G</a:t>
            </a:r>
            <a:r>
              <a:rPr lang="zh-CN" altLang="en-US" dirty="0" smtClean="0"/>
              <a:t>模块（不含流量套餐）；</a:t>
            </a:r>
            <a:endParaRPr lang="en-US" altLang="zh-CN" dirty="0" smtClean="0"/>
          </a:p>
          <a:p>
            <a:r>
              <a:rPr lang="zh-CN" altLang="en-US" dirty="0" smtClean="0"/>
              <a:t>流量套餐成本</a:t>
            </a:r>
            <a:r>
              <a:rPr lang="en-US" altLang="zh-CN" dirty="0" smtClean="0"/>
              <a:t>4</a:t>
            </a:r>
            <a:r>
              <a:rPr lang="zh-CN" altLang="en-US" dirty="0" smtClean="0"/>
              <a:t>元</a:t>
            </a:r>
            <a:r>
              <a:rPr lang="en-US" altLang="zh-CN" dirty="0" smtClean="0"/>
              <a:t>/</a:t>
            </a:r>
            <a:r>
              <a:rPr lang="zh-CN" altLang="en-US" dirty="0" smtClean="0"/>
              <a:t>月左右，含</a:t>
            </a:r>
            <a:r>
              <a:rPr lang="en-US" altLang="zh-CN" dirty="0" smtClean="0"/>
              <a:t>2G/</a:t>
            </a:r>
            <a:r>
              <a:rPr lang="zh-CN" altLang="en-US" dirty="0" smtClean="0"/>
              <a:t>月</a:t>
            </a:r>
            <a:endParaRPr lang="en-US" altLang="zh-CN" dirty="0" smtClean="0"/>
          </a:p>
          <a:p>
            <a:r>
              <a:rPr lang="zh-CN" altLang="en-US" dirty="0" smtClean="0"/>
              <a:t>模具费按</a:t>
            </a:r>
            <a:r>
              <a:rPr lang="en-US" altLang="zh-CN" dirty="0" smtClean="0"/>
              <a:t>1</a:t>
            </a:r>
            <a:r>
              <a:rPr lang="zh-CN" altLang="en-US" dirty="0" smtClean="0"/>
              <a:t>万套分摊；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500562" y="1071546"/>
            <a:ext cx="442915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外观形状：碟形（外形可定制）</a:t>
            </a:r>
            <a:endParaRPr lang="en-US" altLang="zh-CN" dirty="0" smtClean="0"/>
          </a:p>
          <a:p>
            <a:r>
              <a:rPr lang="zh-CN" altLang="en-US" dirty="0" smtClean="0"/>
              <a:t>应用场景：桌面</a:t>
            </a:r>
            <a:endParaRPr lang="en-US" altLang="zh-CN" dirty="0" smtClean="0"/>
          </a:p>
          <a:p>
            <a:r>
              <a:rPr lang="zh-CN" altLang="en-US" dirty="0" smtClean="0"/>
              <a:t>功能应用：麦克风收集不同地方的人的说话（包括口齿不清）声音，物理降噪处理后，通过</a:t>
            </a:r>
            <a:r>
              <a:rPr lang="en-US" altLang="zh-CN" dirty="0" smtClean="0"/>
              <a:t>4G</a:t>
            </a:r>
            <a:r>
              <a:rPr lang="zh-CN" altLang="en-US" dirty="0" smtClean="0"/>
              <a:t>物联网，上传到后台服务器，经过服务器处理分析后转为可识别的普通话语音，通过</a:t>
            </a:r>
            <a:r>
              <a:rPr lang="en-US" altLang="zh-CN" dirty="0" smtClean="0"/>
              <a:t>4G</a:t>
            </a:r>
            <a:r>
              <a:rPr lang="zh-CN" altLang="en-US" dirty="0" smtClean="0"/>
              <a:t>模块回传后，经过功放，喇叭外放输出，并在屏幕同步显示特设定语言文字（英语</a:t>
            </a:r>
            <a:r>
              <a:rPr lang="en-US" altLang="zh-CN" dirty="0" smtClean="0"/>
              <a:t>/</a:t>
            </a:r>
            <a:r>
              <a:rPr lang="zh-CN" altLang="en-US" dirty="0" smtClean="0"/>
              <a:t>德语</a:t>
            </a:r>
            <a:r>
              <a:rPr lang="en-US" altLang="zh-CN" dirty="0" smtClean="0"/>
              <a:t>/</a:t>
            </a:r>
            <a:r>
              <a:rPr lang="zh-CN" altLang="en-US" dirty="0" smtClean="0"/>
              <a:t>俄语</a:t>
            </a:r>
            <a:r>
              <a:rPr lang="en-US" altLang="zh-CN" dirty="0" smtClean="0"/>
              <a:t>/</a:t>
            </a:r>
            <a:r>
              <a:rPr lang="zh-CN" altLang="en-US" dirty="0" smtClean="0"/>
              <a:t>日语等等）；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备注：独立终端</a:t>
            </a:r>
            <a:endParaRPr lang="en-US" altLang="zh-CN" dirty="0" smtClean="0"/>
          </a:p>
          <a:p>
            <a:r>
              <a:rPr lang="zh-CN" altLang="en-US" dirty="0" smtClean="0"/>
              <a:t>              可加视频通话功能，视频软件绑定</a:t>
            </a:r>
            <a:endParaRPr lang="en-US" altLang="zh-CN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4643438" y="4714884"/>
            <a:ext cx="40005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成本分析：</a:t>
            </a:r>
            <a:r>
              <a:rPr lang="en-US" altLang="zh-CN" dirty="0" smtClean="0"/>
              <a:t>260</a:t>
            </a:r>
            <a:r>
              <a:rPr lang="zh-CN" altLang="en-US" dirty="0" smtClean="0"/>
              <a:t>左右带</a:t>
            </a:r>
            <a:r>
              <a:rPr lang="en-US" altLang="zh-CN" dirty="0" smtClean="0"/>
              <a:t>4G</a:t>
            </a:r>
            <a:r>
              <a:rPr lang="zh-CN" altLang="en-US" dirty="0" smtClean="0"/>
              <a:t>模块（不含流量套餐）；</a:t>
            </a:r>
            <a:endParaRPr lang="en-US" altLang="zh-CN" dirty="0" smtClean="0"/>
          </a:p>
          <a:p>
            <a:r>
              <a:rPr lang="zh-CN" altLang="en-US" dirty="0" smtClean="0"/>
              <a:t>流量套餐成本</a:t>
            </a:r>
            <a:r>
              <a:rPr lang="en-US" altLang="zh-CN" dirty="0" smtClean="0"/>
              <a:t>4</a:t>
            </a:r>
            <a:r>
              <a:rPr lang="zh-CN" altLang="en-US" dirty="0" smtClean="0"/>
              <a:t>元</a:t>
            </a:r>
            <a:r>
              <a:rPr lang="en-US" altLang="zh-CN" dirty="0" smtClean="0"/>
              <a:t>/</a:t>
            </a:r>
            <a:r>
              <a:rPr lang="zh-CN" altLang="en-US" dirty="0" smtClean="0"/>
              <a:t>月左右，含</a:t>
            </a:r>
            <a:r>
              <a:rPr lang="en-US" altLang="zh-CN" dirty="0" smtClean="0"/>
              <a:t>2G/</a:t>
            </a:r>
            <a:r>
              <a:rPr lang="zh-CN" altLang="en-US" dirty="0" smtClean="0"/>
              <a:t>月</a:t>
            </a:r>
            <a:endParaRPr lang="en-US" altLang="zh-CN" dirty="0" smtClean="0"/>
          </a:p>
          <a:p>
            <a:r>
              <a:rPr lang="zh-CN" altLang="en-US" dirty="0" smtClean="0"/>
              <a:t>模具费按</a:t>
            </a:r>
            <a:r>
              <a:rPr lang="en-US" altLang="zh-CN" dirty="0" smtClean="0"/>
              <a:t>1</a:t>
            </a:r>
            <a:r>
              <a:rPr lang="zh-CN" altLang="en-US" dirty="0" smtClean="0"/>
              <a:t>万套分摊；</a:t>
            </a:r>
            <a:endParaRPr lang="zh-CN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071546"/>
            <a:ext cx="4250901" cy="4929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500562" y="1285860"/>
            <a:ext cx="435771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外观形状：手机型（外形可定制）</a:t>
            </a:r>
            <a:endParaRPr lang="en-US" altLang="zh-CN" dirty="0" smtClean="0"/>
          </a:p>
          <a:p>
            <a:r>
              <a:rPr lang="zh-CN" altLang="en-US" dirty="0" smtClean="0"/>
              <a:t>应用场景：手持（可带夹子）</a:t>
            </a:r>
            <a:endParaRPr lang="en-US" altLang="zh-CN" dirty="0" smtClean="0"/>
          </a:p>
          <a:p>
            <a:r>
              <a:rPr lang="zh-CN" altLang="en-US" dirty="0" smtClean="0"/>
              <a:t>功能应用：麦克风收集不同地方的人的说话（包括口齿不清）声音，物理降噪处理后，通过</a:t>
            </a:r>
            <a:r>
              <a:rPr lang="en-US" altLang="zh-CN" dirty="0" smtClean="0"/>
              <a:t>4G</a:t>
            </a:r>
            <a:r>
              <a:rPr lang="zh-CN" altLang="en-US" dirty="0" smtClean="0"/>
              <a:t>物联网，上传到后台服务器，经过服务器处理分析后转为可识别的普通话语音，通过</a:t>
            </a:r>
            <a:r>
              <a:rPr lang="en-US" altLang="zh-CN" dirty="0" smtClean="0"/>
              <a:t>4G</a:t>
            </a:r>
            <a:r>
              <a:rPr lang="zh-CN" altLang="en-US" dirty="0" smtClean="0"/>
              <a:t>模块回传后，经过功放，喇叭外放输出，并在屏幕同步显示特设定语言文字（英语</a:t>
            </a:r>
            <a:r>
              <a:rPr lang="en-US" altLang="zh-CN" dirty="0" smtClean="0"/>
              <a:t>/</a:t>
            </a:r>
            <a:r>
              <a:rPr lang="zh-CN" altLang="en-US" dirty="0" smtClean="0"/>
              <a:t>德语</a:t>
            </a:r>
            <a:r>
              <a:rPr lang="en-US" altLang="zh-CN" dirty="0" smtClean="0"/>
              <a:t>/</a:t>
            </a:r>
            <a:r>
              <a:rPr lang="zh-CN" altLang="en-US" dirty="0" smtClean="0"/>
              <a:t>俄语</a:t>
            </a:r>
            <a:r>
              <a:rPr lang="en-US" altLang="zh-CN" dirty="0" smtClean="0"/>
              <a:t>/</a:t>
            </a:r>
            <a:r>
              <a:rPr lang="zh-CN" altLang="en-US" dirty="0" smtClean="0"/>
              <a:t>日语等等）；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备注：独立终端，带显示屏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          </a:t>
            </a:r>
            <a:r>
              <a:rPr lang="zh-CN" altLang="en-US" dirty="0" smtClean="0"/>
              <a:t>绑定视频软件，可视频通话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4702742"/>
            <a:ext cx="40005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成本分析：</a:t>
            </a:r>
            <a:r>
              <a:rPr lang="en-US" altLang="zh-CN" dirty="0" smtClean="0"/>
              <a:t>280</a:t>
            </a:r>
            <a:r>
              <a:rPr lang="zh-CN" altLang="en-US" dirty="0" smtClean="0"/>
              <a:t>左右带</a:t>
            </a:r>
            <a:r>
              <a:rPr lang="en-US" altLang="zh-CN" dirty="0" smtClean="0"/>
              <a:t>4G</a:t>
            </a:r>
            <a:r>
              <a:rPr lang="zh-CN" altLang="en-US" dirty="0" smtClean="0"/>
              <a:t>模块（不含流量套餐）；</a:t>
            </a:r>
            <a:endParaRPr lang="en-US" altLang="zh-CN" dirty="0" smtClean="0"/>
          </a:p>
          <a:p>
            <a:r>
              <a:rPr lang="zh-CN" altLang="en-US" dirty="0" smtClean="0"/>
              <a:t>流量套餐成本</a:t>
            </a:r>
            <a:r>
              <a:rPr lang="en-US" altLang="zh-CN" dirty="0" smtClean="0"/>
              <a:t>4</a:t>
            </a:r>
            <a:r>
              <a:rPr lang="zh-CN" altLang="en-US" dirty="0" smtClean="0"/>
              <a:t>元</a:t>
            </a:r>
            <a:r>
              <a:rPr lang="en-US" altLang="zh-CN" dirty="0" smtClean="0"/>
              <a:t>/</a:t>
            </a:r>
            <a:r>
              <a:rPr lang="zh-CN" altLang="en-US" dirty="0" smtClean="0"/>
              <a:t>月左右，含</a:t>
            </a:r>
            <a:r>
              <a:rPr lang="en-US" altLang="zh-CN" dirty="0" smtClean="0"/>
              <a:t>2G/</a:t>
            </a:r>
            <a:r>
              <a:rPr lang="zh-CN" altLang="en-US" dirty="0" smtClean="0"/>
              <a:t>月</a:t>
            </a:r>
            <a:endParaRPr lang="en-US" altLang="zh-CN" dirty="0" smtClean="0"/>
          </a:p>
          <a:p>
            <a:r>
              <a:rPr lang="zh-CN" altLang="en-US" dirty="0" smtClean="0"/>
              <a:t>模具费按</a:t>
            </a:r>
            <a:r>
              <a:rPr lang="en-US" altLang="zh-CN" dirty="0" smtClean="0"/>
              <a:t>1</a:t>
            </a:r>
            <a:r>
              <a:rPr lang="zh-CN" altLang="en-US" dirty="0" smtClean="0"/>
              <a:t>万套分摊；</a:t>
            </a:r>
            <a:endParaRPr lang="zh-CN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7" y="1357298"/>
            <a:ext cx="3766947" cy="5072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000108"/>
            <a:ext cx="2061185" cy="5583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矩形 5"/>
          <p:cNvSpPr/>
          <p:nvPr/>
        </p:nvSpPr>
        <p:spPr>
          <a:xfrm>
            <a:off x="4500562" y="1285860"/>
            <a:ext cx="435771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外观形状：纽扣型（外形可定制）</a:t>
            </a:r>
            <a:endParaRPr lang="en-US" altLang="zh-CN" dirty="0" smtClean="0"/>
          </a:p>
          <a:p>
            <a:r>
              <a:rPr lang="zh-CN" altLang="en-US" dirty="0" smtClean="0"/>
              <a:t>应用场景：衣服领袖可夹</a:t>
            </a:r>
            <a:endParaRPr lang="en-US" altLang="zh-CN" dirty="0" smtClean="0"/>
          </a:p>
          <a:p>
            <a:r>
              <a:rPr lang="zh-CN" altLang="en-US" dirty="0" smtClean="0"/>
              <a:t>功能应用：麦克风收集不同地方的人的说话（包括口齿不清）声音，物理降噪处理后，通过</a:t>
            </a:r>
            <a:r>
              <a:rPr lang="en-US" altLang="zh-CN" dirty="0" smtClean="0"/>
              <a:t>4G</a:t>
            </a:r>
            <a:r>
              <a:rPr lang="zh-CN" altLang="en-US" dirty="0" smtClean="0"/>
              <a:t>物联网，上传到后台服务器，经过服务器处理分析后转为可识别的普通话语音，通过</a:t>
            </a:r>
            <a:r>
              <a:rPr lang="en-US" altLang="zh-CN" dirty="0" smtClean="0"/>
              <a:t>4G</a:t>
            </a:r>
            <a:r>
              <a:rPr lang="zh-CN" altLang="en-US" dirty="0" smtClean="0"/>
              <a:t>模块回传后，经过功放，喇叭外放输出；</a:t>
            </a:r>
            <a:endParaRPr lang="en-US" altLang="zh-CN" dirty="0" smtClean="0"/>
          </a:p>
          <a:p>
            <a:r>
              <a:rPr lang="zh-CN" altLang="en-US" dirty="0" smtClean="0"/>
              <a:t>即 </a:t>
            </a:r>
            <a:r>
              <a:rPr lang="en-US" altLang="zh-CN" dirty="0" smtClean="0"/>
              <a:t>ASR/</a:t>
            </a:r>
            <a:r>
              <a:rPr lang="zh-CN" altLang="en-US" dirty="0" smtClean="0"/>
              <a:t>特定语音及方言转普通话</a:t>
            </a:r>
            <a:r>
              <a:rPr lang="en-US" altLang="zh-CN" dirty="0" smtClean="0"/>
              <a:t>/TTS </a:t>
            </a:r>
            <a:r>
              <a:rPr lang="zh-CN" altLang="en-US" dirty="0" smtClean="0"/>
              <a:t>都在后台完成，本终端只做采集</a:t>
            </a:r>
            <a:r>
              <a:rPr lang="en-US" altLang="zh-CN" dirty="0" smtClean="0"/>
              <a:t>+</a:t>
            </a:r>
            <a:r>
              <a:rPr lang="zh-CN" altLang="en-US" dirty="0" smtClean="0"/>
              <a:t>降噪</a:t>
            </a:r>
            <a:r>
              <a:rPr lang="en-US" altLang="zh-CN" dirty="0" smtClean="0"/>
              <a:t>+4G</a:t>
            </a:r>
            <a:r>
              <a:rPr lang="zh-CN" altLang="en-US" dirty="0" smtClean="0"/>
              <a:t>上传</a:t>
            </a:r>
            <a:r>
              <a:rPr lang="en-US" altLang="zh-CN" dirty="0" smtClean="0"/>
              <a:t>+</a:t>
            </a:r>
            <a:r>
              <a:rPr lang="zh-CN" altLang="en-US" dirty="0" smtClean="0"/>
              <a:t>收音频</a:t>
            </a:r>
            <a:r>
              <a:rPr lang="en-US" altLang="zh-CN" dirty="0" smtClean="0"/>
              <a:t>+</a:t>
            </a:r>
            <a:r>
              <a:rPr lang="zh-CN" altLang="en-US" dirty="0" smtClean="0"/>
              <a:t>功放播放）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备注：独立终端，不带显示屏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5000636"/>
            <a:ext cx="40005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成本分析：</a:t>
            </a:r>
            <a:r>
              <a:rPr lang="en-US" altLang="zh-CN" dirty="0" smtClean="0"/>
              <a:t>115</a:t>
            </a:r>
            <a:r>
              <a:rPr lang="zh-CN" altLang="en-US" dirty="0" smtClean="0"/>
              <a:t>左右带</a:t>
            </a:r>
            <a:r>
              <a:rPr lang="en-US" altLang="zh-CN" dirty="0" smtClean="0"/>
              <a:t>4G</a:t>
            </a:r>
            <a:r>
              <a:rPr lang="zh-CN" altLang="en-US" dirty="0" smtClean="0"/>
              <a:t>模块（不含流量套餐）；</a:t>
            </a:r>
            <a:endParaRPr lang="en-US" altLang="zh-CN" dirty="0" smtClean="0"/>
          </a:p>
          <a:p>
            <a:r>
              <a:rPr lang="zh-CN" altLang="en-US" dirty="0" smtClean="0"/>
              <a:t>流量套餐成本</a:t>
            </a:r>
            <a:r>
              <a:rPr lang="en-US" altLang="zh-CN" dirty="0" smtClean="0"/>
              <a:t>4</a:t>
            </a:r>
            <a:r>
              <a:rPr lang="zh-CN" altLang="en-US" dirty="0" smtClean="0"/>
              <a:t>元</a:t>
            </a:r>
            <a:r>
              <a:rPr lang="en-US" altLang="zh-CN" dirty="0" smtClean="0"/>
              <a:t>/</a:t>
            </a:r>
            <a:r>
              <a:rPr lang="zh-CN" altLang="en-US" dirty="0" smtClean="0"/>
              <a:t>月左右，含</a:t>
            </a:r>
            <a:r>
              <a:rPr lang="en-US" altLang="zh-CN" dirty="0" smtClean="0"/>
              <a:t>2G/</a:t>
            </a:r>
            <a:r>
              <a:rPr lang="zh-CN" altLang="en-US" dirty="0" smtClean="0"/>
              <a:t>月</a:t>
            </a:r>
            <a:endParaRPr lang="en-US" altLang="zh-CN" dirty="0" smtClean="0"/>
          </a:p>
          <a:p>
            <a:r>
              <a:rPr lang="zh-CN" altLang="en-US" dirty="0" smtClean="0"/>
              <a:t>模具费按</a:t>
            </a:r>
            <a:r>
              <a:rPr lang="en-US" altLang="zh-CN" dirty="0" smtClean="0"/>
              <a:t>1</a:t>
            </a:r>
            <a:r>
              <a:rPr lang="zh-CN" altLang="en-US" dirty="0" smtClean="0"/>
              <a:t>万套分摊；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71538" y="1285860"/>
            <a:ext cx="692948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语音沟通机：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　　基于综合分析，目前设定的方案为在线工作模式，通过</a:t>
            </a:r>
            <a:r>
              <a:rPr lang="en-US" altLang="zh-CN" dirty="0" smtClean="0"/>
              <a:t>4G</a:t>
            </a:r>
            <a:r>
              <a:rPr lang="zh-CN" altLang="en-US" dirty="0" smtClean="0"/>
              <a:t>网络访问</a:t>
            </a:r>
            <a:r>
              <a:rPr lang="en-US" altLang="zh-CN" dirty="0" smtClean="0"/>
              <a:t>【</a:t>
            </a:r>
            <a:r>
              <a:rPr lang="zh-CN" altLang="en-US" dirty="0" smtClean="0"/>
              <a:t>燃言</a:t>
            </a:r>
            <a:r>
              <a:rPr lang="en-US" altLang="zh-CN" dirty="0" smtClean="0"/>
              <a:t>】</a:t>
            </a:r>
            <a:r>
              <a:rPr lang="zh-CN" altLang="en-US" dirty="0" smtClean="0"/>
              <a:t>云数据库，进行语音转化</a:t>
            </a:r>
            <a:r>
              <a:rPr lang="en-US" altLang="zh-CN" dirty="0" smtClean="0"/>
              <a:t>/</a:t>
            </a:r>
            <a:r>
              <a:rPr lang="zh-CN" altLang="en-US" dirty="0" smtClean="0"/>
              <a:t>翻译。这是成本最佳最优、体验最好的方案；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　　如果加上离线访问或者脱网工作模式，最简单的</a:t>
            </a:r>
            <a:r>
              <a:rPr lang="en-US" altLang="zh-CN" dirty="0" smtClean="0"/>
              <a:t>AI</a:t>
            </a:r>
            <a:r>
              <a:rPr lang="zh-CN" altLang="en-US" dirty="0" smtClean="0"/>
              <a:t>互动是可以实现的，但是指令输入输出包括识别概率极大降低，并且离线或者脱网后，输入指令得不到后台云数据库的校正，后期使用中逐步脱离日常应用，换句话说不在网将得不到云数据的大模型训练，孤立久之后将变得更僵化，在网后有需要重新训练。其次目前这种离线数据库训练成本非常高，因此建议在网使用模式；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　　关于语音沟通机产品，外观可定制，功能及成本可定制，以上方案做参考，请吕总</a:t>
            </a:r>
            <a:r>
              <a:rPr lang="en-US" altLang="zh-CN" dirty="0" smtClean="0"/>
              <a:t>/</a:t>
            </a:r>
            <a:r>
              <a:rPr lang="zh-CN" altLang="en-US" dirty="0" smtClean="0"/>
              <a:t>商总参阅后再细谈；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　　关于产品设计周期，根据实际需求调整打样时间。</a:t>
            </a:r>
            <a:endParaRPr lang="en-US" altLang="zh-CN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1538" y="1285861"/>
            <a:ext cx="692948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语音沟通机：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　　关于成本分析，从吕总提供的产品方案里面，有提及离线断网模式下的使用场景，基于现在市场上离线智能语音助手方案目前最佳的是科大讯飞，但是也是目前成本最高，是其它几个方案的</a:t>
            </a:r>
            <a:r>
              <a:rPr lang="en-US" altLang="zh-CN" dirty="0" smtClean="0"/>
              <a:t>2</a:t>
            </a:r>
            <a:r>
              <a:rPr lang="zh-CN" altLang="en-US" dirty="0" smtClean="0"/>
              <a:t>倍以上，而且需要内置大</a:t>
            </a:r>
            <a:r>
              <a:rPr lang="en-US" altLang="zh-CN" dirty="0" smtClean="0"/>
              <a:t>RAM</a:t>
            </a:r>
            <a:r>
              <a:rPr lang="zh-CN" altLang="en-US" dirty="0" smtClean="0"/>
              <a:t>内存，用于本地存储语音数据库，采用科大讯飞方案成本远远超过目前承受的心理价位，因此在网络发达今天，几乎网络无死角，建议在线读取访问的工作模式，这样做到成本最佳最优、体验最好的方案；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　　</a:t>
            </a:r>
            <a:endParaRPr lang="en-US" altLang="zh-CN" dirty="0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1538" y="928670"/>
            <a:ext cx="692948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语音沟通机：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、无显示屏的产品设计方案，基础成本</a:t>
            </a:r>
            <a:r>
              <a:rPr lang="en-US" altLang="zh-CN" dirty="0" smtClean="0"/>
              <a:t>115</a:t>
            </a:r>
            <a:r>
              <a:rPr lang="zh-CN" altLang="en-US" dirty="0" smtClean="0"/>
              <a:t>元左右，其中包括方案开发费模具费的分摊，</a:t>
            </a:r>
            <a:r>
              <a:rPr lang="en-US" altLang="zh-CN" dirty="0" smtClean="0"/>
              <a:t>10000</a:t>
            </a:r>
            <a:r>
              <a:rPr lang="zh-CN" altLang="en-US" dirty="0" smtClean="0"/>
              <a:t>台之后的批量采购成本应该</a:t>
            </a:r>
            <a:r>
              <a:rPr lang="en-US" altLang="zh-CN" dirty="0" smtClean="0"/>
              <a:t>100</a:t>
            </a:r>
            <a:r>
              <a:rPr lang="zh-CN" altLang="en-US" dirty="0" smtClean="0"/>
              <a:t>左右或者不超过</a:t>
            </a:r>
            <a:r>
              <a:rPr lang="en-US" altLang="zh-CN" dirty="0" smtClean="0"/>
              <a:t>100</a:t>
            </a:r>
            <a:r>
              <a:rPr lang="zh-CN" altLang="en-US" dirty="0" smtClean="0"/>
              <a:t>元；</a:t>
            </a:r>
            <a:endParaRPr lang="en-US" altLang="zh-CN" dirty="0" smtClean="0"/>
          </a:p>
          <a:p>
            <a:r>
              <a:rPr lang="zh-CN" altLang="en-US" dirty="0" smtClean="0"/>
              <a:t>备注：有其中部分功能产品市场售价</a:t>
            </a:r>
            <a:r>
              <a:rPr lang="en-US" altLang="zh-CN" dirty="0" smtClean="0"/>
              <a:t>499</a:t>
            </a:r>
            <a:r>
              <a:rPr lang="zh-CN" altLang="en-US" dirty="0" smtClean="0"/>
              <a:t>元以上，真降噪价格更高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、有显示屏的产品设计方案，基础成本</a:t>
            </a:r>
            <a:r>
              <a:rPr lang="en-US" altLang="zh-CN" dirty="0" smtClean="0"/>
              <a:t>260</a:t>
            </a:r>
            <a:r>
              <a:rPr lang="zh-CN" altLang="en-US" dirty="0" smtClean="0"/>
              <a:t>元以上，其中包括方案开发费模具费的分摊，</a:t>
            </a:r>
            <a:r>
              <a:rPr lang="en-US" altLang="zh-CN" dirty="0" smtClean="0"/>
              <a:t>10000</a:t>
            </a:r>
            <a:r>
              <a:rPr lang="zh-CN" altLang="en-US" dirty="0" smtClean="0"/>
              <a:t>台之后的批量采购成本应该</a:t>
            </a:r>
            <a:r>
              <a:rPr lang="en-US" altLang="zh-CN" dirty="0" smtClean="0"/>
              <a:t>240</a:t>
            </a:r>
            <a:r>
              <a:rPr lang="zh-CN" altLang="en-US" dirty="0" smtClean="0"/>
              <a:t>元左右或者不超过</a:t>
            </a:r>
            <a:r>
              <a:rPr lang="en-US" altLang="zh-CN" dirty="0" smtClean="0"/>
              <a:t>240</a:t>
            </a:r>
            <a:r>
              <a:rPr lang="zh-CN" altLang="en-US" dirty="0" smtClean="0"/>
              <a:t>元；</a:t>
            </a:r>
            <a:endParaRPr lang="en-US" altLang="zh-CN" dirty="0" smtClean="0"/>
          </a:p>
          <a:p>
            <a:r>
              <a:rPr lang="zh-CN" altLang="en-US" dirty="0" smtClean="0"/>
              <a:t>备注：有其中部分功能产品市场售价</a:t>
            </a:r>
            <a:r>
              <a:rPr lang="en-US" altLang="zh-CN" dirty="0" smtClean="0"/>
              <a:t>699~899</a:t>
            </a:r>
            <a:r>
              <a:rPr lang="zh-CN" altLang="en-US" dirty="0" smtClean="0"/>
              <a:t>元，甚至真降噪滤波产品达千元以上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、蓝牙连接的产品设计方案，基础成本</a:t>
            </a:r>
            <a:r>
              <a:rPr lang="en-US" altLang="zh-CN" dirty="0" smtClean="0"/>
              <a:t>75</a:t>
            </a:r>
            <a:r>
              <a:rPr lang="zh-CN" altLang="en-US" dirty="0" smtClean="0"/>
              <a:t>元左右，其中包括方案开发费模具费的分摊，</a:t>
            </a:r>
            <a:r>
              <a:rPr lang="en-US" altLang="zh-CN" dirty="0" smtClean="0"/>
              <a:t>10000</a:t>
            </a:r>
            <a:r>
              <a:rPr lang="zh-CN" altLang="en-US" dirty="0" smtClean="0"/>
              <a:t>台之后的批量采购成本应该</a:t>
            </a:r>
            <a:r>
              <a:rPr lang="en-US" altLang="zh-CN" dirty="0" smtClean="0"/>
              <a:t>65</a:t>
            </a:r>
            <a:r>
              <a:rPr lang="zh-CN" altLang="en-US" dirty="0" smtClean="0"/>
              <a:t>元左右或者不超过</a:t>
            </a:r>
            <a:r>
              <a:rPr lang="en-US" altLang="zh-CN" dirty="0" smtClean="0"/>
              <a:t>65</a:t>
            </a:r>
            <a:r>
              <a:rPr lang="zh-CN" altLang="en-US" dirty="0" smtClean="0"/>
              <a:t>元；</a:t>
            </a:r>
            <a:endParaRPr lang="en-US" altLang="zh-CN" dirty="0" smtClean="0"/>
          </a:p>
          <a:p>
            <a:r>
              <a:rPr lang="zh-CN" altLang="en-US" dirty="0" smtClean="0"/>
              <a:t>备注：有其中部分功能产品市场售价</a:t>
            </a:r>
            <a:r>
              <a:rPr lang="en-US" altLang="zh-CN" dirty="0" smtClean="0"/>
              <a:t>168~199</a:t>
            </a:r>
            <a:r>
              <a:rPr lang="zh-CN" altLang="en-US" dirty="0" smtClean="0"/>
              <a:t>元，真降噪滤波的产品达</a:t>
            </a:r>
            <a:r>
              <a:rPr lang="en-US" altLang="zh-CN" dirty="0" smtClean="0"/>
              <a:t>299</a:t>
            </a:r>
            <a:r>
              <a:rPr lang="zh-CN" altLang="en-US" dirty="0" smtClean="0"/>
              <a:t>元以上</a:t>
            </a:r>
            <a:endParaRPr lang="en-US" altLang="zh-CN" dirty="0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1357298"/>
            <a:ext cx="2800369" cy="3500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29124" y="1357298"/>
            <a:ext cx="4572012" cy="457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571472" y="5214950"/>
            <a:ext cx="31432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产品：</a:t>
            </a:r>
            <a:r>
              <a:rPr lang="en-US" altLang="zh-CN" dirty="0" smtClean="0"/>
              <a:t>AI</a:t>
            </a:r>
            <a:r>
              <a:rPr lang="zh-CN" altLang="en-US" dirty="0" smtClean="0"/>
              <a:t>陪伴机器人</a:t>
            </a:r>
            <a:endParaRPr lang="en-US" altLang="zh-CN" dirty="0" smtClean="0"/>
          </a:p>
          <a:p>
            <a:r>
              <a:rPr lang="zh-CN" altLang="en-US" dirty="0" smtClean="0"/>
              <a:t>功能应用：</a:t>
            </a:r>
            <a:endParaRPr lang="en-US" altLang="zh-CN" dirty="0" smtClean="0"/>
          </a:p>
          <a:p>
            <a:r>
              <a:rPr lang="zh-CN" altLang="en-US" dirty="0" smtClean="0"/>
              <a:t>老人，小孩情感聊天陪伴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000108"/>
            <a:ext cx="3500462" cy="4219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98900" y="928670"/>
            <a:ext cx="5245100" cy="497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571472" y="5286388"/>
            <a:ext cx="3786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产品：</a:t>
            </a:r>
            <a:r>
              <a:rPr lang="en-US" altLang="zh-CN" dirty="0" smtClean="0"/>
              <a:t> AI</a:t>
            </a:r>
            <a:r>
              <a:rPr lang="zh-CN" altLang="en-US" dirty="0" smtClean="0"/>
              <a:t>智能手环</a:t>
            </a:r>
            <a:r>
              <a:rPr lang="en-US" altLang="zh-CN" dirty="0" smtClean="0"/>
              <a:t>/</a:t>
            </a:r>
            <a:r>
              <a:rPr lang="zh-CN" altLang="en-US" dirty="0" smtClean="0"/>
              <a:t>表</a:t>
            </a:r>
            <a:endParaRPr lang="en-US" altLang="zh-CN" dirty="0" smtClean="0"/>
          </a:p>
          <a:p>
            <a:r>
              <a:rPr lang="zh-CN" altLang="en-US" dirty="0" smtClean="0"/>
              <a:t>功能应用：可手机联网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500208"/>
            <a:ext cx="2500298" cy="2633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5984" y="1428736"/>
            <a:ext cx="6805632" cy="4838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0" y="4429132"/>
            <a:ext cx="22145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产品：全功能健康守护手表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、标准版蓝牙连接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、旗舰版</a:t>
            </a:r>
            <a:r>
              <a:rPr lang="en-US" altLang="zh-CN" dirty="0" smtClean="0"/>
              <a:t>SIM</a:t>
            </a:r>
            <a:r>
              <a:rPr lang="zh-CN" altLang="en-US" dirty="0" smtClean="0"/>
              <a:t>卡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37006" y="1214422"/>
            <a:ext cx="5206994" cy="29289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1214422"/>
            <a:ext cx="4057650" cy="521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4857752" y="4214818"/>
            <a:ext cx="34290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AI</a:t>
            </a:r>
            <a:r>
              <a:rPr lang="zh-CN" altLang="en-US" dirty="0" smtClean="0"/>
              <a:t>摄像眼镜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、光波导摄像眼镜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、普通</a:t>
            </a:r>
            <a:r>
              <a:rPr lang="en-US" altLang="zh-CN" dirty="0" smtClean="0"/>
              <a:t>AI</a:t>
            </a:r>
            <a:r>
              <a:rPr lang="zh-CN" altLang="en-US" dirty="0" smtClean="0"/>
              <a:t>眼镜（语音</a:t>
            </a:r>
            <a:r>
              <a:rPr lang="en-US" altLang="zh-CN" dirty="0" smtClean="0"/>
              <a:t>AI</a:t>
            </a:r>
            <a:r>
              <a:rPr lang="zh-CN" altLang="en-US" dirty="0" smtClean="0"/>
              <a:t>眼镜）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000628" y="5357826"/>
            <a:ext cx="30718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功能应用：</a:t>
            </a:r>
            <a:endParaRPr lang="en-US" altLang="zh-CN" dirty="0" smtClean="0"/>
          </a:p>
          <a:p>
            <a:r>
              <a:rPr lang="zh-CN" altLang="en-US" dirty="0" smtClean="0"/>
              <a:t>豆包</a:t>
            </a:r>
            <a:r>
              <a:rPr lang="en-US" altLang="zh-CN" dirty="0" smtClean="0"/>
              <a:t>/</a:t>
            </a:r>
            <a:r>
              <a:rPr lang="zh-CN" altLang="en-US" dirty="0" smtClean="0"/>
              <a:t>千问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deepseek</a:t>
            </a:r>
            <a:endParaRPr lang="en-US" altLang="zh-CN" dirty="0" smtClean="0"/>
          </a:p>
          <a:p>
            <a:r>
              <a:rPr lang="zh-CN" altLang="en-US" dirty="0" smtClean="0"/>
              <a:t>全功能调用</a:t>
            </a: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48" y="2357429"/>
            <a:ext cx="3102944" cy="321471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矩形 4"/>
          <p:cNvSpPr/>
          <p:nvPr/>
        </p:nvSpPr>
        <p:spPr>
          <a:xfrm>
            <a:off x="4214810" y="1071546"/>
            <a:ext cx="4572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 smtClean="0"/>
              <a:t>产品：无人机</a:t>
            </a:r>
            <a:endParaRPr lang="en-US" altLang="zh-CN" dirty="0" smtClean="0"/>
          </a:p>
          <a:p>
            <a:r>
              <a:rPr lang="zh-CN" altLang="en-US" dirty="0" smtClean="0"/>
              <a:t>遥控方式：手柄</a:t>
            </a:r>
          </a:p>
          <a:p>
            <a:r>
              <a:rPr lang="zh-CN" altLang="en-US" dirty="0" smtClean="0"/>
              <a:t>特色功能：摄像头、灯光、高清摄像、手柄遥控、炫彩灯光、手机操控、一键翻滚、一键降落、</a:t>
            </a:r>
            <a:r>
              <a:rPr lang="en-US" altLang="zh-CN" dirty="0" smtClean="0"/>
              <a:t>360°</a:t>
            </a:r>
            <a:r>
              <a:rPr lang="zh-CN" altLang="en-US" dirty="0" smtClean="0"/>
              <a:t>全面避障、一键</a:t>
            </a:r>
            <a:r>
              <a:rPr lang="en-US" altLang="zh-CN" dirty="0" smtClean="0"/>
              <a:t>360°</a:t>
            </a:r>
            <a:r>
              <a:rPr lang="zh-CN" altLang="en-US" dirty="0" smtClean="0"/>
              <a:t>特技翻滚</a:t>
            </a:r>
          </a:p>
          <a:p>
            <a:r>
              <a:rPr lang="zh-CN" altLang="en-US" dirty="0" smtClean="0"/>
              <a:t>玩具材质：</a:t>
            </a:r>
            <a:r>
              <a:rPr lang="en-US" altLang="zh-CN" dirty="0" smtClean="0"/>
              <a:t>ABS</a:t>
            </a:r>
          </a:p>
          <a:p>
            <a:r>
              <a:rPr lang="zh-CN" altLang="en-US" dirty="0" smtClean="0"/>
              <a:t>通道：</a:t>
            </a:r>
            <a:r>
              <a:rPr lang="en-US" altLang="zh-CN" dirty="0" smtClean="0"/>
              <a:t>2</a:t>
            </a:r>
            <a:r>
              <a:rPr lang="zh-CN" altLang="en-US" dirty="0" smtClean="0"/>
              <a:t>通道</a:t>
            </a:r>
          </a:p>
          <a:p>
            <a:r>
              <a:rPr lang="zh-CN" altLang="en-US" dirty="0" smtClean="0"/>
              <a:t>尺寸：</a:t>
            </a:r>
            <a:r>
              <a:rPr lang="en-US" altLang="zh-CN" dirty="0" smtClean="0"/>
              <a:t>30cm</a:t>
            </a:r>
            <a:r>
              <a:rPr lang="zh-CN" altLang="en-US" dirty="0" smtClean="0"/>
              <a:t>以下</a:t>
            </a:r>
          </a:p>
          <a:p>
            <a:r>
              <a:rPr lang="zh-CN" altLang="en-US" dirty="0" smtClean="0"/>
              <a:t>能力培养：情感、视觉、动手动脑、抓握、手眼协调、其他能力培养、互动玩具、亲子交流、兴趣培养</a:t>
            </a:r>
          </a:p>
          <a:p>
            <a:r>
              <a:rPr lang="zh-CN" altLang="en-US" dirty="0" smtClean="0"/>
              <a:t>是否专供外贸：是</a:t>
            </a:r>
            <a:r>
              <a:rPr lang="en-US" altLang="zh-CN" dirty="0" smtClean="0"/>
              <a:t>(</a:t>
            </a:r>
            <a:r>
              <a:rPr lang="zh-CN" altLang="en-US" dirty="0" smtClean="0"/>
              <a:t>本商品仅供外贸用途，</a:t>
            </a:r>
            <a:endParaRPr lang="en-US" altLang="zh-CN" dirty="0" smtClean="0"/>
          </a:p>
          <a:p>
            <a:r>
              <a:rPr lang="en-US" altLang="zh-CN" dirty="0" smtClean="0"/>
              <a:t>S60</a:t>
            </a:r>
            <a:r>
              <a:rPr lang="zh-CN" altLang="en-US" dirty="0" smtClean="0"/>
              <a:t>足球无人机、</a:t>
            </a:r>
            <a:r>
              <a:rPr lang="en-US" altLang="zh-CN" dirty="0" smtClean="0"/>
              <a:t>S34</a:t>
            </a:r>
            <a:r>
              <a:rPr lang="zh-CN" altLang="en-US" dirty="0" smtClean="0"/>
              <a:t>足球无人机、</a:t>
            </a:r>
            <a:r>
              <a:rPr lang="en-US" altLang="zh-CN" dirty="0" smtClean="0"/>
              <a:t>S31</a:t>
            </a:r>
            <a:r>
              <a:rPr lang="zh-CN" altLang="en-US" dirty="0" smtClean="0"/>
              <a:t>足球无人机</a:t>
            </a:r>
          </a:p>
          <a:p>
            <a:r>
              <a:rPr lang="zh-CN" altLang="en-US" dirty="0" smtClean="0"/>
              <a:t>起飞全重：</a:t>
            </a:r>
            <a:r>
              <a:rPr lang="en-US" altLang="zh-CN" dirty="0" smtClean="0"/>
              <a:t>0-250g</a:t>
            </a:r>
            <a:r>
              <a:rPr lang="zh-CN" altLang="en-US" dirty="0" smtClean="0"/>
              <a:t>（不含）</a:t>
            </a:r>
          </a:p>
          <a:p>
            <a:r>
              <a:rPr lang="zh-CN" altLang="en-US" dirty="0" smtClean="0"/>
              <a:t>最大飞行高度：</a:t>
            </a:r>
            <a:r>
              <a:rPr lang="en-US" altLang="zh-CN" dirty="0" smtClean="0"/>
              <a:t>0~120</a:t>
            </a:r>
            <a:r>
              <a:rPr lang="zh-CN" altLang="en-US" dirty="0" smtClean="0"/>
              <a:t>米（含）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48" y="2643182"/>
            <a:ext cx="3195372" cy="300039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矩形 4"/>
          <p:cNvSpPr/>
          <p:nvPr/>
        </p:nvSpPr>
        <p:spPr>
          <a:xfrm>
            <a:off x="4429124" y="2000240"/>
            <a:ext cx="4572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 smtClean="0"/>
              <a:t>产品：</a:t>
            </a:r>
            <a:r>
              <a:rPr lang="en-US" altLang="zh-CN" dirty="0" smtClean="0"/>
              <a:t>AI</a:t>
            </a:r>
            <a:r>
              <a:rPr lang="zh-CN" altLang="en-US" dirty="0" smtClean="0"/>
              <a:t>机器狗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特色功能：</a:t>
            </a:r>
          </a:p>
          <a:p>
            <a:r>
              <a:rPr lang="zh-CN" altLang="en-US" dirty="0" smtClean="0"/>
              <a:t>智能对话、炫彩灯光、亲子互动模式、故事讲解、</a:t>
            </a:r>
            <a:r>
              <a:rPr lang="en-US" altLang="zh-CN" dirty="0" smtClean="0"/>
              <a:t>AI</a:t>
            </a:r>
            <a:r>
              <a:rPr lang="zh-CN" altLang="en-US" dirty="0" smtClean="0"/>
              <a:t>学习成长</a:t>
            </a:r>
          </a:p>
          <a:p>
            <a:r>
              <a:rPr lang="zh-CN" altLang="en-US" dirty="0" smtClean="0"/>
              <a:t>是否含遥控：是</a:t>
            </a:r>
          </a:p>
          <a:p>
            <a:r>
              <a:rPr lang="zh-CN" altLang="en-US" dirty="0" smtClean="0"/>
              <a:t>包装：彩盒</a:t>
            </a:r>
          </a:p>
          <a:p>
            <a:r>
              <a:rPr lang="zh-CN" altLang="en-US" dirty="0" smtClean="0"/>
              <a:t>能力培养：</a:t>
            </a:r>
          </a:p>
          <a:p>
            <a:r>
              <a:rPr lang="zh-CN" altLang="en-US" dirty="0" smtClean="0"/>
              <a:t>情感、视觉、智力开发、动手动脑、抓握、感官、手眼协调、其他能力培养、互动玩具、听觉、亲子交流、兴趣培养</a:t>
            </a:r>
          </a:p>
          <a:p>
            <a:r>
              <a:rPr lang="zh-CN" altLang="en-US" dirty="0" smtClean="0"/>
              <a:t>是否有动漫形象：否</a:t>
            </a:r>
          </a:p>
          <a:p>
            <a:r>
              <a:rPr lang="zh-CN" altLang="en-US" dirty="0" smtClean="0"/>
              <a:t>遥控方式：手柄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71" y="2428868"/>
            <a:ext cx="3313293" cy="257176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矩形 4"/>
          <p:cNvSpPr/>
          <p:nvPr/>
        </p:nvSpPr>
        <p:spPr>
          <a:xfrm>
            <a:off x="4071934" y="2428868"/>
            <a:ext cx="4572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 smtClean="0"/>
              <a:t>产品：喷雾玩具飞机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玩具材质：</a:t>
            </a:r>
            <a:r>
              <a:rPr lang="en-US" altLang="zh-CN" dirty="0" smtClean="0"/>
              <a:t>EVA/</a:t>
            </a:r>
            <a:r>
              <a:rPr lang="zh-CN" altLang="en-US" dirty="0" smtClean="0"/>
              <a:t>泡沫</a:t>
            </a:r>
          </a:p>
          <a:p>
            <a:r>
              <a:rPr lang="zh-CN" altLang="en-US" dirty="0" smtClean="0"/>
              <a:t>遥控方式：手柄</a:t>
            </a:r>
          </a:p>
          <a:p>
            <a:r>
              <a:rPr lang="zh-CN" altLang="en-US" dirty="0" smtClean="0"/>
              <a:t>颜色：蓝色、橙色</a:t>
            </a:r>
          </a:p>
          <a:p>
            <a:r>
              <a:rPr lang="zh-CN" altLang="en-US" dirty="0" smtClean="0"/>
              <a:t>规格：标准单电池、畅玩双电池、豪华三电池</a:t>
            </a:r>
          </a:p>
          <a:p>
            <a:r>
              <a:rPr lang="zh-CN" altLang="en-US" dirty="0" smtClean="0"/>
              <a:t>能力培养：视觉、感官、手眼协调、兴趣培养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10" y="2143116"/>
            <a:ext cx="2643206" cy="349876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矩形 4"/>
          <p:cNvSpPr/>
          <p:nvPr/>
        </p:nvSpPr>
        <p:spPr>
          <a:xfrm>
            <a:off x="3929058" y="2071678"/>
            <a:ext cx="45720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产品：遥控火箭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遥控方式：手柄</a:t>
            </a:r>
          </a:p>
          <a:p>
            <a:r>
              <a:rPr lang="zh-CN" altLang="en-US" dirty="0" smtClean="0"/>
              <a:t>迷你折叠、</a:t>
            </a:r>
            <a:r>
              <a:rPr lang="en-US" altLang="zh-CN" dirty="0" smtClean="0"/>
              <a:t>USB</a:t>
            </a:r>
            <a:r>
              <a:rPr lang="zh-CN" altLang="en-US" dirty="0" smtClean="0"/>
              <a:t>充电、前进、手柄遥控、后退、左侧飞、右侧飞、炫酷灯光、气压定高、一键起降</a:t>
            </a:r>
          </a:p>
          <a:p>
            <a:r>
              <a:rPr lang="zh-CN" altLang="en-US" dirty="0" smtClean="0"/>
              <a:t>通道：</a:t>
            </a:r>
            <a:r>
              <a:rPr lang="en-US" altLang="zh-CN" dirty="0" smtClean="0"/>
              <a:t>6</a:t>
            </a:r>
            <a:r>
              <a:rPr lang="zh-CN" altLang="en-US" dirty="0" smtClean="0"/>
              <a:t>通道</a:t>
            </a:r>
          </a:p>
          <a:p>
            <a:r>
              <a:rPr lang="zh-CN" altLang="en-US" dirty="0" smtClean="0"/>
              <a:t>尺寸：</a:t>
            </a:r>
            <a:r>
              <a:rPr lang="en-US" altLang="zh-CN" dirty="0" smtClean="0"/>
              <a:t>30cm</a:t>
            </a:r>
            <a:r>
              <a:rPr lang="zh-CN" altLang="en-US" dirty="0" smtClean="0"/>
              <a:t>以下</a:t>
            </a:r>
          </a:p>
          <a:p>
            <a:r>
              <a:rPr lang="zh-CN" altLang="en-US" dirty="0" smtClean="0"/>
              <a:t>包装：彩盒</a:t>
            </a:r>
          </a:p>
          <a:p>
            <a:r>
              <a:rPr lang="zh-CN" altLang="en-US" dirty="0" smtClean="0"/>
              <a:t>能力培养：</a:t>
            </a:r>
          </a:p>
          <a:p>
            <a:r>
              <a:rPr lang="zh-CN" altLang="en-US" dirty="0" smtClean="0"/>
              <a:t>情感、视觉、智力开发、爬行、动手动脑、抓握、感官、手眼协调、其他能力培养、互动玩具、亲子交流</a:t>
            </a:r>
          </a:p>
          <a:p>
            <a:r>
              <a:rPr lang="zh-CN" altLang="en-US" dirty="0" smtClean="0"/>
              <a:t>颜色：白色</a:t>
            </a:r>
            <a:r>
              <a:rPr lang="en-US" altLang="zh-CN" dirty="0" smtClean="0"/>
              <a:t>【</a:t>
            </a:r>
            <a:r>
              <a:rPr lang="zh-CN" altLang="en-US" dirty="0" smtClean="0"/>
              <a:t>无航拍</a:t>
            </a:r>
            <a:r>
              <a:rPr lang="en-US" altLang="zh-CN" dirty="0" smtClean="0"/>
              <a:t>】</a:t>
            </a:r>
            <a:r>
              <a:rPr lang="zh-CN" altLang="en-US" dirty="0" smtClean="0"/>
              <a:t>、灰色</a:t>
            </a:r>
            <a:r>
              <a:rPr lang="en-US" altLang="zh-CN" dirty="0" smtClean="0"/>
              <a:t>【</a:t>
            </a:r>
            <a:r>
              <a:rPr lang="zh-CN" altLang="en-US" dirty="0" smtClean="0"/>
              <a:t>无航拍</a:t>
            </a:r>
            <a:r>
              <a:rPr lang="en-US" altLang="zh-CN" dirty="0" smtClean="0"/>
              <a:t>】</a:t>
            </a:r>
          </a:p>
          <a:p>
            <a:r>
              <a:rPr lang="zh-CN" altLang="en-US" dirty="0" smtClean="0"/>
              <a:t>机身电池*</a:t>
            </a:r>
            <a:r>
              <a:rPr lang="en-US" altLang="zh-CN" dirty="0" smtClean="0"/>
              <a:t>3【</a:t>
            </a:r>
            <a:r>
              <a:rPr lang="zh-CN" altLang="en-US" dirty="0" smtClean="0"/>
              <a:t>配件不含机身</a:t>
            </a:r>
            <a:r>
              <a:rPr lang="en-US" altLang="zh-CN" dirty="0" smtClean="0"/>
              <a:t>】</a:t>
            </a:r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357298"/>
            <a:ext cx="4001867" cy="3910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00562" y="1357298"/>
            <a:ext cx="4555859" cy="5014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285720" y="5572140"/>
            <a:ext cx="3929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产品：气传导运动耳机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1267</Words>
  <Application>Microsoft Office PowerPoint</Application>
  <PresentationFormat>全屏显示(4:3)</PresentationFormat>
  <Paragraphs>118</Paragraphs>
  <Slides>17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18" baseType="lpstr">
      <vt:lpstr>Office 主题</vt:lpstr>
      <vt:lpstr>燃言多模态AI无障碍沟通机                          ------产品方案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YEAH</dc:creator>
  <cp:lastModifiedBy>YEAH</cp:lastModifiedBy>
  <cp:revision>17</cp:revision>
  <dcterms:created xsi:type="dcterms:W3CDTF">2026-08-20T13:05:50Z</dcterms:created>
  <dcterms:modified xsi:type="dcterms:W3CDTF">2026-08-21T17:17:25Z</dcterms:modified>
</cp:coreProperties>
</file>